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a80dd5398e4f2e" /><Relationship Type="http://schemas.openxmlformats.org/officeDocument/2006/relationships/extended-properties" Target="/docProps/app.xml" Id="R2583992824fd4afb" /><Relationship Type="http://schemas.openxmlformats.org/officeDocument/2006/relationships/officeDocument" Target="/ppt/presentation.xml" Id="Rea87bff7cb0a4b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92ffcad7a946ad"/>
  </p:sldMasterIdLst>
  <p:notesMasterIdLst>
    <p:notesMasterId xmlns:r="http://schemas.openxmlformats.org/officeDocument/2006/relationships" r:id="R04d615400e094983"/>
  </p:notesMasterIdLst>
  <p:sldIdLst>
    <p:sldId xmlns:r="http://schemas.openxmlformats.org/officeDocument/2006/relationships" id="256" r:id="R17346ee052784a3d"/>
    <p:sldId xmlns:r="http://schemas.openxmlformats.org/officeDocument/2006/relationships" id="257" r:id="Rbef949e2a87a43c3"/>
    <p:sldId xmlns:r="http://schemas.openxmlformats.org/officeDocument/2006/relationships" id="258" r:id="Rf098116497e949c3"/>
    <p:sldId xmlns:r="http://schemas.openxmlformats.org/officeDocument/2006/relationships" id="259" r:id="R2062163e011c43c4"/>
    <p:sldId xmlns:r="http://schemas.openxmlformats.org/officeDocument/2006/relationships" id="260" r:id="Rfad2f781224441ce"/>
    <p:sldId xmlns:r="http://schemas.openxmlformats.org/officeDocument/2006/relationships" id="261" r:id="R7f553ef490cc461b"/>
    <p:sldId xmlns:r="http://schemas.openxmlformats.org/officeDocument/2006/relationships" id="262" r:id="R2da17f45d5ce4f61"/>
    <p:sldId xmlns:r="http://schemas.openxmlformats.org/officeDocument/2006/relationships" id="263" r:id="R775ea953a8cf4b10"/>
    <p:sldId xmlns:r="http://schemas.openxmlformats.org/officeDocument/2006/relationships" id="264" r:id="R6887acdd9e80469b"/>
    <p:sldId xmlns:r="http://schemas.openxmlformats.org/officeDocument/2006/relationships" id="265" r:id="R1b9d1fbf8f344a17"/>
    <p:sldId xmlns:r="http://schemas.openxmlformats.org/officeDocument/2006/relationships" id="266" r:id="Rdff7e038ca1f45f1"/>
    <p:sldId xmlns:r="http://schemas.openxmlformats.org/officeDocument/2006/relationships" id="267" r:id="R4907e97a024e4404"/>
    <p:sldId xmlns:r="http://schemas.openxmlformats.org/officeDocument/2006/relationships" id="268" r:id="R7f4874c93f00486a"/>
    <p:sldId xmlns:r="http://schemas.openxmlformats.org/officeDocument/2006/relationships" id="269" r:id="R61f924131f8d4612"/>
    <p:sldId xmlns:r="http://schemas.openxmlformats.org/officeDocument/2006/relationships" id="270" r:id="R5c46dfb160f74cf8"/>
    <p:sldId xmlns:r="http://schemas.openxmlformats.org/officeDocument/2006/relationships" id="271" r:id="R4f51b7e7f1684f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8f643a59f144aa" /><Relationship Type="http://schemas.openxmlformats.org/officeDocument/2006/relationships/slideMaster" Target="/ppt/slideMasters/slideMaster1.xml" Id="R8892ffcad7a946ad" /><Relationship Type="http://schemas.openxmlformats.org/officeDocument/2006/relationships/notesMaster" Target="/ppt/notesMasters/notesMaster1.xml" Id="R04d615400e094983" /><Relationship Type="http://schemas.openxmlformats.org/officeDocument/2006/relationships/presProps" Target="/ppt/presProps.xml" Id="Re45c88ca79d74e5c" /><Relationship Type="http://schemas.openxmlformats.org/officeDocument/2006/relationships/tableStyles" Target="/ppt/tableStyles.xml" Id="Red3349ee4fdc45ef" /><Relationship Type="http://schemas.openxmlformats.org/officeDocument/2006/relationships/slide" Target="/ppt/slides/slide1.xml" Id="R17346ee052784a3d" /><Relationship Type="http://schemas.openxmlformats.org/officeDocument/2006/relationships/slide" Target="/ppt/slides/slide2.xml" Id="Rbef949e2a87a43c3" /><Relationship Type="http://schemas.openxmlformats.org/officeDocument/2006/relationships/slide" Target="/ppt/slides/slide3.xml" Id="Rf098116497e949c3" /><Relationship Type="http://schemas.openxmlformats.org/officeDocument/2006/relationships/slide" Target="/ppt/slides/slide4.xml" Id="R2062163e011c43c4" /><Relationship Type="http://schemas.openxmlformats.org/officeDocument/2006/relationships/slide" Target="/ppt/slides/slide5.xml" Id="Rfad2f781224441ce" /><Relationship Type="http://schemas.openxmlformats.org/officeDocument/2006/relationships/slide" Target="/ppt/slides/slide6.xml" Id="R7f553ef490cc461b" /><Relationship Type="http://schemas.openxmlformats.org/officeDocument/2006/relationships/slide" Target="/ppt/slides/slide7.xml" Id="R2da17f45d5ce4f61" /><Relationship Type="http://schemas.openxmlformats.org/officeDocument/2006/relationships/slide" Target="/ppt/slides/slide8.xml" Id="R775ea953a8cf4b10" /><Relationship Type="http://schemas.openxmlformats.org/officeDocument/2006/relationships/slide" Target="/ppt/slides/slide9.xml" Id="R6887acdd9e80469b" /><Relationship Type="http://schemas.openxmlformats.org/officeDocument/2006/relationships/slide" Target="/ppt/slides/slide10.xml" Id="R1b9d1fbf8f344a17" /><Relationship Type="http://schemas.openxmlformats.org/officeDocument/2006/relationships/slide" Target="/ppt/slides/slide11.xml" Id="Rdff7e038ca1f45f1" /><Relationship Type="http://schemas.openxmlformats.org/officeDocument/2006/relationships/slide" Target="/ppt/slides/slide12.xml" Id="R4907e97a024e4404" /><Relationship Type="http://schemas.openxmlformats.org/officeDocument/2006/relationships/slide" Target="/ppt/slides/slide13.xml" Id="R7f4874c93f00486a" /><Relationship Type="http://schemas.openxmlformats.org/officeDocument/2006/relationships/slide" Target="/ppt/slides/slide14.xml" Id="R61f924131f8d4612" /><Relationship Type="http://schemas.openxmlformats.org/officeDocument/2006/relationships/slide" Target="/ppt/slides/slide15.xml" Id="R5c46dfb160f74cf8" /><Relationship Type="http://schemas.openxmlformats.org/officeDocument/2006/relationships/slide" Target="/ppt/slides/slide16.xml" Id="R4f51b7e7f1684f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fac7ef4a0d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fc6787a0245e4" /><Relationship Type="http://schemas.openxmlformats.org/officeDocument/2006/relationships/notesMaster" Target="/ppt/notesMasters/notesMaster1.xml" Id="Rc522aacbba2a41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4a86fddcfb4293" /><Relationship Type="http://schemas.openxmlformats.org/officeDocument/2006/relationships/notesMaster" Target="/ppt/notesMasters/notesMaster1.xml" Id="R25d24f81034b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cc8a065202455e" /><Relationship Type="http://schemas.openxmlformats.org/officeDocument/2006/relationships/notesMaster" Target="/ppt/notesMasters/notesMaster1.xml" Id="R267cd8aef5b946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2a26c59477436f" /><Relationship Type="http://schemas.openxmlformats.org/officeDocument/2006/relationships/notesMaster" Target="/ppt/notesMasters/notesMaster1.xml" Id="R2b9925cbac694b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6b2208b349446d" /><Relationship Type="http://schemas.openxmlformats.org/officeDocument/2006/relationships/notesMaster" Target="/ppt/notesMasters/notesMaster1.xml" Id="R66a4684d9a244c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4de688ce874b41" /><Relationship Type="http://schemas.openxmlformats.org/officeDocument/2006/relationships/notesMaster" Target="/ppt/notesMasters/notesMaster1.xml" Id="R52d5debe1eee4e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fb05a1837840a0" /><Relationship Type="http://schemas.openxmlformats.org/officeDocument/2006/relationships/notesMaster" Target="/ppt/notesMasters/notesMaster1.xml" Id="R46b060add52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b12d0f3aa147a8" /><Relationship Type="http://schemas.openxmlformats.org/officeDocument/2006/relationships/notesMaster" Target="/ppt/notesMasters/notesMaster1.xml" Id="R0d6efaa9483149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79db125c5f48df" /><Relationship Type="http://schemas.openxmlformats.org/officeDocument/2006/relationships/notesMaster" Target="/ppt/notesMasters/notesMaster1.xml" Id="R7d6c0f4c8c2c45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7bbd036f0547e6" /><Relationship Type="http://schemas.openxmlformats.org/officeDocument/2006/relationships/notesMaster" Target="/ppt/notesMasters/notesMaster1.xml" Id="R8bd116b170354a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5fefb443fd40e0" /><Relationship Type="http://schemas.openxmlformats.org/officeDocument/2006/relationships/notesMaster" Target="/ppt/notesMasters/notesMaster1.xml" Id="Rb4b182158adc42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5abcab920340cf" /><Relationship Type="http://schemas.openxmlformats.org/officeDocument/2006/relationships/notesMaster" Target="/ppt/notesMasters/notesMaster1.xml" Id="R19028d74c12141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e4d9a0cb734de8" /><Relationship Type="http://schemas.openxmlformats.org/officeDocument/2006/relationships/notesMaster" Target="/ppt/notesMasters/notesMaster1.xml" Id="Rbc1306f1e1134d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3c2530e7fc4050" /><Relationship Type="http://schemas.openxmlformats.org/officeDocument/2006/relationships/notesMaster" Target="/ppt/notesMasters/notesMaster1.xml" Id="R37e3166d5f9248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bb558f828841e9" /><Relationship Type="http://schemas.openxmlformats.org/officeDocument/2006/relationships/notesMaster" Target="/ppt/notesMasters/notesMaster1.xml" Id="R0736b065337a44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f7cd6c028742eb" /><Relationship Type="http://schemas.openxmlformats.org/officeDocument/2006/relationships/notesMaster" Target="/ppt/notesMasters/notesMaster1.xml" Id="Rb0aa5e3c87134e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封面使用项目自有 Alice CG。开场一句：QuestMind 把用户的一句话目标，变成每天能完成的行动，并在整个过程中由 Alice 持续陪伴。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问题判断来自 QuestMind 当前产品设计。这里不使用未经验证的用户调查数字，正式路演应替换成创始团队访谈和内测数据。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核心闭环来自 Goals、course-engine、LectureRoom、测验、复习队列和 Alice 对话代码。所有节点在 PPT 中保持可编辑。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来源：教育部《2024年全国教育事业发展统计公报》；Google NotebookLM 2025年4月学习功能公告；Character.AI 2025年2月技术博客；Duolingo 2025年Form 10-K。数据口径不同，仅作为相邻需求的规模信号。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画面来自项目现有宣传视频的渲染帧。可演示功能包括AI目标向导、目标列表、每日任务、学习指南和Alice目标对话。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技术事实来自 src/course-engine：documentClassifier、pedagogicalExtractor、engine、continuity、repository、service。当前属于可运行MVP，需要用真实复杂资料继续验证抽取质量。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功能来自 GoalDetailPanel、QuizDialog、FinalExamDialog、LectureRoom 和 CourseLearningPanel。图片为项目现有产品演示帧。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Alice关系层来自 aliceRelationship.service.ts，并覆盖小屋、Goals和桌宠入口。云端跨设备同步需要在生产Supabase完成迁移与真实账号验收。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技术栈来自 package.json、App.tsx、services、course-engine、src-tauri、android和Supabase迁移。生产部署、RLS和跨端安装包仍需端到端验证。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竞品参照：ChatGPT Study Mode支持分步引导、资料和记忆；NotebookLM支持资料问答、学习指南、闪卡与测验；Character.AI代表角色关系；效率工具代表目标与任务管理。位置为产品定位判断，不是量化测评。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商业模式为建议方案，支付、订阅、团队版和硬件尚未形成完整生产实现。Duolingo 2025年末付费订阅用户为1,220万，证明免费学习产品存在订阅转化空间，但QuestMind仍需自行验证转化率。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渠道和场景是建议方案。正式执行前应选择考研、考公、四六级、职业资格、编程或语言中的一个主场景，用4到6周小规模实验验证。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当前没有真实用户与收入数据。本页给出融资后的指标框架，所有数字应由埋点和真实用户测试产生。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融资区间沿用项目既有规划。资金比例为建议，不代表已批准预算。与投资人沟通前需补齐团队薪酬、AI推理成本、获客预算和18个月现金流。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此页故意保留团队信息缺口，避免编造创始人履历。对外发送前必须替换为真实团队介绍。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结束页。对外发送前补充联系人。可在这里邀请投资人观看三分钟产品演示。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be8ac480f46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7060281a94a2f" /><Relationship Type="http://schemas.openxmlformats.org/officeDocument/2006/relationships/slideLayout" Target="/ppt/slideLayouts/slideLayout1.xml" Id="R65f755e5bc9145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f755e5bc9145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782dd47c64e83" /><Relationship Type="http://schemas.openxmlformats.org/officeDocument/2006/relationships/image" Target="/ppt/media/image.jpeg" Id="Rf33f931e31c64e35" /><Relationship Type="http://schemas.openxmlformats.org/officeDocument/2006/relationships/notesSlide" Target="/ppt/notesSlides/notesSlide1.xml" Id="R0313813c2a7247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4d11c0e31400c" /><Relationship Type="http://schemas.openxmlformats.org/officeDocument/2006/relationships/notesSlide" Target="/ppt/notesSlides/notesSlide2.xml" Id="R368b7f07e72942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5fee66a6a4cab" /><Relationship Type="http://schemas.openxmlformats.org/officeDocument/2006/relationships/notesSlide" Target="/ppt/notesSlides/notesSlide3.xml" Id="Rac11af81a0054a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8c8beac524641" /><Relationship Type="http://schemas.openxmlformats.org/officeDocument/2006/relationships/notesSlide" Target="/ppt/notesSlides/notesSlide4.xml" Id="Rb9133f85de3c4c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7c1d1d8bd4bb6" /><Relationship Type="http://schemas.openxmlformats.org/officeDocument/2006/relationships/image" Target="/ppt/media/image.png" Id="R95c029f90cf649ff" /><Relationship Type="http://schemas.openxmlformats.org/officeDocument/2006/relationships/image" Target="/ppt/media/image2.png" Id="R7eb07d856a64447c" /><Relationship Type="http://schemas.openxmlformats.org/officeDocument/2006/relationships/notesSlide" Target="/ppt/notesSlides/notesSlide5.xml" Id="R386fe1efcd3745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98712472e403d" /><Relationship Type="http://schemas.openxmlformats.org/officeDocument/2006/relationships/image" Target="/ppt/media/image3.png" Id="Ra9a60f4908384557" /><Relationship Type="http://schemas.openxmlformats.org/officeDocument/2006/relationships/notesSlide" Target="/ppt/notesSlides/notesSlide6.xml" Id="R1df0b3765e5145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c8eda9f3f49ce" /><Relationship Type="http://schemas.openxmlformats.org/officeDocument/2006/relationships/image" Target="/ppt/media/image4.png" Id="Rcf9d48171e534d14" /><Relationship Type="http://schemas.openxmlformats.org/officeDocument/2006/relationships/notesSlide" Target="/ppt/notesSlides/notesSlide7.xml" Id="R8a42b0a23bb340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a2f5f42274b4b" /><Relationship Type="http://schemas.openxmlformats.org/officeDocument/2006/relationships/image" Target="/ppt/media/image2.jpeg" Id="R3df4f9963d254f30" /><Relationship Type="http://schemas.openxmlformats.org/officeDocument/2006/relationships/image" Target="/ppt/media/image5.png" Id="R6536440958054502" /><Relationship Type="http://schemas.openxmlformats.org/officeDocument/2006/relationships/notesSlide" Target="/ppt/notesSlides/notesSlide8.xml" Id="Rf667c57938b045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8965fdbf045b5" /><Relationship Type="http://schemas.openxmlformats.org/officeDocument/2006/relationships/notesSlide" Target="/ppt/notesSlides/notesSlide9.xml" Id="Raf72aa34572848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fe72ba0c4438d" /><Relationship Type="http://schemas.openxmlformats.org/officeDocument/2006/relationships/notesSlide" Target="/ppt/notesSlides/notesSlide10.xml" Id="R176cedf74f7943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444b59c8b4197" /><Relationship Type="http://schemas.openxmlformats.org/officeDocument/2006/relationships/notesSlide" Target="/ppt/notesSlides/notesSlide11.xml" Id="R62e2855b88e140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33ce9a1fc42c4" /><Relationship Type="http://schemas.openxmlformats.org/officeDocument/2006/relationships/notesSlide" Target="/ppt/notesSlides/notesSlide12.xml" Id="R3b2d666131d944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a4cc18f2a45b0" /><Relationship Type="http://schemas.openxmlformats.org/officeDocument/2006/relationships/notesSlide" Target="/ppt/notesSlides/notesSlide13.xml" Id="R41d412ff85c843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dd9d29c7a4e18" /><Relationship Type="http://schemas.openxmlformats.org/officeDocument/2006/relationships/notesSlide" Target="/ppt/notesSlides/notesSlide14.xml" Id="R4d72571191a34b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bad5d50a34080" /><Relationship Type="http://schemas.openxmlformats.org/officeDocument/2006/relationships/notesSlide" Target="/ppt/notesSlides/notesSlide15.xml" Id="R9f29a12ef8ed44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ce13dbac74e66" /><Relationship Type="http://schemas.openxmlformats.org/officeDocument/2006/relationships/image" Target="/ppt/media/image3.jpeg" Id="R1def1fb125394671" /><Relationship Type="http://schemas.openxmlformats.org/officeDocument/2006/relationships/notesSlide" Target="/ppt/notesSlides/notesSlide16.xml" Id="Ra2595ebb9f7746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f931e31c64e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00BE1-892A-4550-8A51-0BBD7D86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E16">
              <a:alpha val="6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27ACB-0268-4F78-83A8-F594E2A1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9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89059-A636-4959-80EB-28CD8AF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QUESTMIND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90D2C-F0D1-4D89-80DF-0C7480CF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让目标真正发生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6CA1A-BC5F-43E7-BE4C-4C2ADA35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DDE8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F2DDE8"/>
                </a:solidFill>
                <a:latin typeface="Noto Sans SC"/>
                <a:ea typeface="Noto Sans SC"/>
                <a:cs typeface="Noto Sans SC"/>
              </a:rPr>
              <a:t>AI陪伴式目标学习平台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2D9EC-2E66-4B5D-A408-8EAD5F29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2C5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2C5D4"/>
                </a:solidFill>
                <a:latin typeface="Noto Sans SC"/>
                <a:ea typeface="Noto Sans SC"/>
                <a:cs typeface="Noto Sans SC"/>
              </a:rPr>
              <a:t>目标执行引擎  ×  私有资料学习  ×  Alice长期陪伴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ACBCB-E30C-490C-9861-D53574C9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2C5D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D2C5D4"/>
                </a:solidFill>
                <a:latin typeface="Noto Sans SC"/>
                <a:ea typeface="Noto Sans SC"/>
                <a:cs typeface="Noto Sans SC"/>
              </a:rPr>
              <a:t>天使轮商业计划书｜2026</a:t>
            </a:r>
          </a:p>
        </p:txBody>
      </p:sp>
    </p:spTree>
    <p:extLst>
      <p:ext uri="{BB962C8B-B14F-4D97-AF65-F5344CB8AC3E}">
        <p14:creationId xmlns:p14="http://schemas.microsoft.com/office/powerpoint/2010/main" val="936410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2D96A-9AAF-4D7B-AFDA-532EE7D9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A8C47-F8BA-49D8-8283-5EF7F470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学习工具解决了信息，却没有解决持续完成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0130C-BB89-4D52-958C-496BE061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7FAB9-7D20-4D61-8480-463D52B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00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目标太大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B53E0-0F07-48B6-B679-C338282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002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用户知道想完成什么，却不知道今天应该做哪一步。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7959D-7A9C-41A0-97A5-F157C6F1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88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D50A6-802B-42E8-BB9B-4149B15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61D10-9F9C-4D1C-9354-743A440A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资料太散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F846E-8A2C-45A1-90AE-15DBA94D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670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教材、课件和试卷没有被组织成个人学习路径。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8A3F1-E560-4086-A5B6-D8C3A866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DCAB8-6FE7-485D-839B-34D40BDB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5D07F-4540-41E2-A121-66195965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反馈太晚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627E2-1B40-4AD2-B248-5766D0E8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用户直到考试或放弃时，才发现自己没有真正掌握。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81AA6-CAFE-47EC-830D-616634E4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5FCA1-A235-4E24-BD90-2DC51FE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B66DE-48B0-418B-8929-3D614B28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陪伴太浅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4213F-DCB2-415B-967D-E516BB9F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通用聊天缺少目标进度、长期状态和稳定关系。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AECD0-902C-4098-B800-FBB4E5A2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292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A1662-6C89-4FF8-9A7D-4AE38824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348D4-D827-4427-B6CD-72B44558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5915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008E7C-F82A-4F73-9D06-05594BD8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02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BC9D9-52A6-4EB9-8A86-749CD83C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一个目标进入系统后，形成可持续更新的学习闭环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622B0-210C-4735-8865-09483697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C3ED4-2667-418C-A15E-29D54AB4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47EEC-9F7B-4BAF-839C-1285CDE7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目标输入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EC0AB-C7FD-4E27-8FA2-59D36342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目标、期限、当前状态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9ABF8-2239-4802-892D-D1818982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5EA13-5CA2-4738-9AEE-3C34553E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2B80D-2D78-43A9-AA42-89D4F9A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计划生成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6776B-A2CD-483E-9359-DDBC97C2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子目标与每日任务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A903E-DF95-42BF-B317-FB48378B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1993C-0E8C-48FB-A128-8FF186C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99F2C-E57F-4DC9-A16F-918EB20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资料理解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3FC5C-6230-44EA-B3CB-A5179366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知识点、证据与重点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EE6CC-CA3C-4896-B70D-4DF6F539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4C1E34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8DCEC-D88C-411C-9D30-503A9C37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AA4CD-18CF-4768-8C51-963874BA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执行陪伴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E9771-BCDA-4F38-9A8B-8197C55F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计时、讲解与提醒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EC806-BEE7-4FED-A994-F8F30F02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732AC-A2F0-4335-8653-C95C4B39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14BAB-7480-4BFE-BDC0-8E6511E0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测验反馈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342A7-8CD1-4F16-9721-0860B95C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掌握度与错误标签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82E77-6BAB-47AA-B07E-D1C78702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CEA04-9CDE-476A-9051-FB085C07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0F695-4F76-4F0F-944A-D89042DB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动态调整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11222-761F-409E-BC0D-07DF5772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复习队列与计划修订</a:t>
            </a:r>
          </a:p>
        </p:txBody>
      </p:sp>
      <p:cxnSp>
        <p:nvCxnSpPr>
          <p:cNvPr id="62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697C"/>
            </a:solidFill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00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697C"/>
            </a:solidFill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05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5D96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10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697C"/>
            </a:solidFill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715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697C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4206BC-4377-4027-8AC6-9394A643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计划会随资料与学习行为持续变化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7C442-B8F6-463E-B6A6-38CA7AE9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292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Alice贯穿目标、讲解、反馈与复盘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8882E5-802F-418B-B03C-A8250208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2AC0D-D6E3-4167-A233-90464E66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6685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7E87E-7D0A-4D8C-A47E-AC6BB717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03 / MARKET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B6C3F-DB84-4D49-A226-7A35DFD8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教育、AI学习与角色陪伴已经分别形成规模需求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EB477-0740-4E33-8AEB-094676F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4,846 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1D464-C0A5-4527-93E4-F65F9FEF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D9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41475-DBB6-4721-A18C-FCF81680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2024年中国高等教育在学总规模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D3966-07AD-4E74-8A6F-66B9BDEA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数万所学校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B7F23-9084-4227-86D9-426F9AB0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4790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79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5EDE0-6C93-4D2D-B144-E535698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Google称学校已使用NotebookLM辅助学习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23856-0E40-43A3-90DA-28C6217C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2,000万+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8205F-E2DF-4A6F-B96A-47D37A3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7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08F5E-BAD5-45E6-8540-AD5C6F12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Character.AI披露的月活用户规模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D1742-64C9-4DA4-887D-7C37BBCD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95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1,220万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1F573-6826-40AA-A083-14601B4E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A8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D34FB-22C8-41AB-8E26-BEEDB670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Duolingo 2025年末付费订阅用户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AEAE1-E226-4021-86CC-576097FF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C5138-E350-4EA0-A48F-DA2ACBA2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QuestMind的机会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D96A9-AE8D-415F-B218-78A2BDC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481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将学习结果、个人资料和长期角色关系放进同一产品，先从考试与自学人群切入。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25857-12FB-4FDB-823D-46EBAA03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以上数据用于证明需求方向，并非QuestMind当前TAM或收入预测。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062EB-143D-4688-82A3-3D77CFC8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86922-2D9C-4BF6-AE8E-D85D6336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0542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E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985D7-9205-4DD3-B302-122A54A5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04 /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242FA-393F-42BB-87D8-A4F97FF8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代码已经覆盖从智能建目标到每日执行的核心体验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029f90cf649ff"/>
          <a:srcRect xmlns:a="http://schemas.openxmlformats.org/drawingml/2006/main" l="13699" t="0" r="13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428750"/>
            <a:ext cx="5286375" cy="40957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07d856a64447c"/>
          <a:srcRect xmlns:a="http://schemas.openxmlformats.org/drawingml/2006/main" l="13699" t="0" r="13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7925" y="1428750"/>
            <a:ext cx="528637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4045E-95CB-445E-84B9-94289BF1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AI追问现状后生成计划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4B0B6-9AFB-4587-B410-5AF5498A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6769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目标、任务、学习指南与Alice同屏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8D565-AEE4-45CC-A51D-060CA047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28D82-2DB5-4E4F-A0E6-A00BFAD0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790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65F14-7957-4196-877A-E64997DA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05 / LEARNING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D4547-56D7-4545-A8F5-CC5BFA0E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私有资料被转化为知识结构、掌握度和下一步任务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BD4EE-3AAC-437D-BAAA-50D0E7C8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83820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D482B-458D-405B-8BB9-ED279D70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95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资料层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DA557-CEFE-4F82-95F7-33C199BA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教材 · 课件 · 笔记 · 试卷 · 错题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ABFAA-8EE8-4405-A2FB-B121DEA2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74676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4EFFB"/>
          </a:solidFill>
          <a:ln xmlns:a="http://schemas.openxmlformats.org/drawingml/2006/main" w="9525">
            <a:solidFill>
              <a:srgbClr val="8E79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9A6D4-053F-43F3-8336-1D43657C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86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理解层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4BA16-F99A-4338-8BCF-D8206E6D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教学块 · 知识节点 · 先修关系 · 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456C7-D93E-40D3-8A50-123B4F20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62350"/>
            <a:ext cx="65532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59A7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F1F36-18F1-41B6-A8CC-2B20F202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76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rPr>
              <a:t>决策层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97109-8281-424A-ABD3-DD904AD7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7665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重要度 · 掌握度 · 错误标签 · 复习队列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1DD6B-50F8-4556-B1A4-95CC1AAC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52950"/>
            <a:ext cx="56388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4EFFB"/>
          </a:solidFill>
          <a:ln xmlns:a="http://schemas.openxmlformats.org/drawingml/2006/main" w="9525">
            <a:solidFill>
              <a:srgbClr val="50A87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19425-1529-42B1-BD92-6FF2BEDD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67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执行层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A420C-336B-4909-83CF-C923F4CB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67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今日任务 · Alice讲解 · 小测 · 计划修订</a:t>
            </a:r>
          </a:p>
        </p:txBody>
      </p:sp>
      <p:cxnSp>
        <p:nvCxnSpPr>
          <p:cNvPr id="36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219700" y="22669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D6E1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219700" y="3257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D6E1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219700" y="42481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D6E1"/>
            </a:solidFill>
            <a:tailEnd type="triangle" w="sm" len="sm"/>
          </a:ln>
        </p:spPr>
      </p:cxn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60f4908384557"/>
          <a:stretch xmlns:a="http://schemas.openxmlformats.org/drawingml/2006/main"/>
        </p:blipFill>
        <p:spPr>
          <a:xfrm xmlns:a="http://schemas.openxmlformats.org/drawingml/2006/main">
            <a:off x="9620250" y="2428094"/>
            <a:ext cx="1905000" cy="1811311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31DB4-CB09-4FAB-B5EC-FE50A25D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新资料上传后，系统可以增量更新计划并保留历史版本。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F3B87-FCC7-4166-851C-6ECB390C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7D4D4-41F5-4B69-B497-95280B4E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80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E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2AC42-1639-4362-AA21-DBB9396F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06 / LEARNING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56953-F9C5-4737-8095-C0186D7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阅读、讲解、测验和复习发生在同一目标上下文中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d48171e534d14"/>
          <a:srcRect xmlns:a="http://schemas.openxmlformats.org/drawingml/2006/main" l="15745" t="0" r="157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276350"/>
            <a:ext cx="5429250" cy="4457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A8054-8BA9-4278-BFA5-60910DB6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PDF、Word、文本和图片进入同一个目标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Alice可讲解章节、提炼重点并更换例子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子目标小测与最终考试检查真实掌握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答对、答错和提示会更新后续复习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F1FEC-58AD-45D7-9CFE-69DE3A6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学习结果继续影响计划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57E08-2879-4123-9B3C-FE27D3AD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231DB-883E-479E-8D47-6CB6442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9982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4f9963d254f30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BCC73-5E03-42E9-A838-D4F01761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D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31777-E649-400E-ACF7-DD1FB581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07 / RETENTION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3EA8A-14C4-40EA-A4B3-910CC0E4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Alice把任务完成后的空白，变成持续关系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4A86-91C9-40B1-8001-BC78BF7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381250" cy="2762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11B27">
              <a:alpha val="86000"/>
            </a:srgbClr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424BF-6483-431D-9B0C-3E0F73E5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关系空间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9923F-2EF2-4335-8182-3EA591CA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924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日常闲聊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情绪支持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久别问候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日记与兴趣分享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14819-C114-47AA-82FD-50A9D05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381250" cy="2762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11B27">
              <a:alpha val="86000"/>
            </a:srgbClr>
          </a:solidFill>
          <a:ln xmlns:a="http://schemas.openxmlformats.org/drawingml/2006/main" w="9525">
            <a:solidFill>
              <a:srgbClr val="8E79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8756-A10A-475D-92B5-204BBAD7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行动空间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74F7C-157B-4E7F-84A2-573948D6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86050"/>
            <a:ext cx="1924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目标推进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学习讲解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任务反馈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复盘与下一步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5FA4E-CDAF-4075-AD50-2CC29F45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381250" cy="2762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11B27">
              <a:alpha val="86000"/>
            </a:srgbClr>
          </a:solidFill>
          <a:ln xmlns:a="http://schemas.openxmlformats.org/drawingml/2006/main" w="9525">
            <a:solidFill>
              <a:srgbClr val="C99A5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33A74-5A24-40E2-A014-499D28F6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记忆系统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0F5D0-D58D-44C2-B7CE-757100F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924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偏好与关键时刻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待跟进事项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场景隔离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用户可删除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6440958054502"/>
          <a:stretch xmlns:a="http://schemas.openxmlformats.org/drawingml/2006/main"/>
        </p:blipFill>
        <p:spPr>
          <a:xfrm xmlns:a="http://schemas.openxmlformats.org/drawingml/2006/main">
            <a:off x="9124950" y="22288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725AD-AA5F-4447-81CC-F873CC02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S0 初识  →  S3 长期陪伴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02C7B-D5C8-497C-8FD7-C6095B94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E4B29-2DEA-4023-ADA3-0D1A8311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93870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3BAF7-6999-4578-B689-C6DA14AA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08 /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5DEB5-21B0-4448-83F3-17BE451A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同一套产品内核覆盖网页、桌面与Android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9135E-D2FD-4A5D-9A3C-275C10CF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744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ACC8B-8A2A-4545-AFB7-DF2548FC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14300" cy="66675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E45D9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6D500-81F2-461D-8589-62D34EE2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体验层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EF1EE-DB44-41A9-8B3B-406E44C9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Home · Goals · LectureRoom · Room · Desktop Pet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F2F50-C26D-435C-BB1C-031E41D5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744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57281-DD86-4709-A7C6-10F9F2F8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14300" cy="66675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8E79D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2A84D-D5EA-4C4B-A348-F1C57F41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智能层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BC8EF-7819-44A1-B6F2-F666585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AI计划 · 课程引擎 · 测验 · 对话决策 · 关系记忆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D7224-CB8C-4713-8D0A-54C68388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0744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A3F3F-BFAC-4A54-8EE9-3108E7B4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14300" cy="66675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59A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1A046-5B09-45FE-8F3A-9FD04506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rPr>
              <a:t>数据层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09E4E-DE42-4759-AACD-18060912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Zustand本地持久化 · Supabase · Storage · RLS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211AD-7D55-413F-9433-576692DF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744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D7130-2E58-4C84-A424-28B56E8C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14300" cy="66675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50A87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03A5A-892A-431C-9420-72E78BDC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交付层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DE6FC-70FD-4E3A-943F-A85D6300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Web · Tauri Windows/macOS · Capacitor Android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74F57-69F7-40F5-946D-98BD1D4E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本地优先，登录后同步；结构化上下文控制模型成本与噪声。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A2B69-6076-4F97-8B57-09ABA8BA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5E9FF-DA0F-4AFF-9CCA-9FC6424B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695955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B23E5-71B6-4D33-AA45-A1B0BE4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09 /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CD6B7-9D5A-41A1-8D1C-1D05CB97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QuestMind占据持续执行与长期关系的交叉位置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A61DD-6D1A-487B-8CB9-1FDD406C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A7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50214-49D0-40DF-BA5B-D5480B59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A7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95C2A-84E8-46AD-BEBD-1497D7F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57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rPr>
              <a:t>一次性回答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D097F-3D43-4CED-A895-FE41CAB0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578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rPr>
              <a:t>持续执行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11297-24EA-4DE5-858A-D82DECF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rPr>
              <a:t>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E41F2-E907-4196-9694-296DD201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rPr>
              <a:t>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1228F-A10F-4C8D-A22C-FD7D140A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13525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9222F"/>
          </a:solidFill>
          <a:ln xmlns:a="http://schemas.openxmlformats.org/drawingml/2006/main" w="9525">
            <a:solidFill>
              <a:srgbClr val="8E79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2760F-9D50-4A24-9F71-9961C41B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通用AI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641B7-EE14-488A-93CB-2D8E9104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57750"/>
            <a:ext cx="13525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9222F"/>
          </a:solidFill>
          <a:ln xmlns:a="http://schemas.openxmlformats.org/drawingml/2006/main" w="9525">
            <a:solidFill>
              <a:srgbClr val="50A8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1C535-10D6-4652-9C1F-FF788664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9530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效率工具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EAB3D-512E-4FE0-BB3A-91314D7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13525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9222F"/>
          </a:solidFill>
          <a:ln xmlns:a="http://schemas.openxmlformats.org/drawingml/2006/main" w="9525">
            <a:solidFill>
              <a:srgbClr val="F59A7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9F4E6-6908-4A5E-9936-77FB9FD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NotebookLM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5281D-7E63-40B6-B819-FF175D50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13525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9222F"/>
          </a:solidFill>
          <a:ln xmlns:a="http://schemas.openxmlformats.org/drawingml/2006/main" w="9525">
            <a:solidFill>
              <a:srgbClr val="C99A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8A6F1-54A4-4961-8F6A-6E7E14CF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955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角色陪伴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E9B53-6A15-4681-8FEE-16BBB61E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16764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4C1E34"/>
          </a:solidFill>
          <a:ln xmlns:a="http://schemas.openxmlformats.org/drawingml/2006/main" w="9525">
            <a:solidFill>
              <a:srgbClr val="E45D9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2583D-ADD0-42E1-A0A8-5AB6EF52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050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QuestMind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297C0-B6AA-4AF3-9FD2-313559B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115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A4B2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AFA4B2"/>
                </a:solidFill>
                <a:latin typeface="Noto Sans SC"/>
                <a:ea typeface="Noto Sans SC"/>
                <a:cs typeface="Noto Sans SC"/>
              </a:rPr>
              <a:t>定位判断基于公开产品能力，不代表市场份额。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73818-CBD2-4864-B3F7-53EC0890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DA1FA-7CE4-44B2-BEC7-35646EED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1047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43041-4658-4069-9132-C2200330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10 /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6A5A9-4AF7-46DF-920F-A8B30BA3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个人订阅先验证付费，角色与硬件扩大单用户价值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B6E2B-02DA-4388-A47C-8E454F62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003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3F7"/>
          </a:solidFill>
          <a:ln xmlns:a="http://schemas.openxmlformats.org/drawingml/2006/main" w="9525">
            <a:solidFill>
              <a:srgbClr val="50A8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7857F-80AB-40FC-A0B7-B7C7313F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FREE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11E3D-AC85-440E-8AAD-21576EEF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019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基础目标管理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有限AI对话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基础小测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6DD86-E17B-4F48-B99F-9B31457C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获客与习惯建立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D48ED-2365-4D87-B60F-DE6FC0B2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2400300" cy="25527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1A6D4-672A-40DF-84CA-AEC91EB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PRO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B8335-1DC2-4234-AE6A-5687284D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2019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更多资料与额度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高级课程分析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完整语音与记忆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6DC30-F284-47FB-97BC-6C9255A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19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月付 / 年付订阅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4A73D-93FE-4DAC-A6EF-C17B9739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2400300" cy="30099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7F3F7"/>
          </a:solidFill>
          <a:ln xmlns:a="http://schemas.openxmlformats.org/drawingml/2006/main" w="9525">
            <a:solidFill>
              <a:srgbClr val="8E79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DD378-D1FC-43DB-8EF1-BC35219B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74265-EC76-4CAD-967B-4113E8FF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2019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考试冲刺包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语言与编程模板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角色与房间内容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97672-D0C3-4791-B689-EB79C3B9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单次购买 / 会员权益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335E3-F567-443A-907F-6FFA0F5E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400300" cy="34671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7F3F7"/>
          </a:solidFill>
          <a:ln xmlns:a="http://schemas.openxmlformats.org/drawingml/2006/main" w="9525">
            <a:solidFill>
              <a:srgbClr val="C99A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95DE5-AC34-49E9-A3D2-42EF753E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383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9A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C99A52"/>
                </a:solidFill>
                <a:latin typeface="Noto Sans SC"/>
                <a:ea typeface="Noto Sans SC"/>
                <a:cs typeface="Noto Sans SC"/>
              </a:rPr>
              <a:t>HARDWARE + B2B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6CE63-0574-468A-97D2-B65151B7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14600"/>
            <a:ext cx="2019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Alice桌宠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学校与机构团队版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3DC60-A015-4E82-9003-B007B4C5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19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设备毛利 / 席位授权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9ADCA-FC3E-4309-92E6-F8DDD050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建议先验证个人Pro订阅，再启动硬件与B端投入。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C4F9C-08E2-4DF9-9724-162955C8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F7B52-4588-45BF-A5B3-F3746134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936258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E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8FE7C-E863-4FD6-A017-3D087AAB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11 / GO TO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62979-F56D-4921-8651-5E897D39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首个切口选择考试与资料型自学人群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55C14-8C84-465D-8373-C210FEEF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28750"/>
            <a:ext cx="10001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321B1-7B75-4A93-99DD-78E7CAD1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获客入口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8E459-F2A0-4F85-A0B9-32FBA7F0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24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考试模板、学习博主、校园社群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F4B5D-A235-42D2-AA34-233B582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9239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E89F4-1E2D-43B6-872E-4710EDC7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首次价值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A0ED2-FA99-4890-9B1F-078F0909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一句话目标生成可执行计划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1F975-395E-4270-AD11-E138CB0C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81350"/>
            <a:ext cx="8477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F73EA-5E69-4EAF-916A-485AD494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76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资料绑定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EAD51-3A03-4197-9A49-FE2AD487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上传自己的教材、课件与试卷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ACDDE-F263-44A6-9DE4-3B42BD4C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57650"/>
            <a:ext cx="7715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A3E74-A9DD-4473-A43B-09EDD87E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52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习惯形成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D592D-655F-460E-93FB-A43F52D8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52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今日任务、测验、复习与Alice反馈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4EBBC-494B-4AA0-99CE-9ACAF35F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33950"/>
            <a:ext cx="6953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4C1E34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4208F-A945-435E-96EB-F45AA068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29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付费转化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AD84E-5064-473C-ACAD-64FB8E19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292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更多资料、高级分析、语音与长期记忆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AF3F6-4A6A-475E-9B6A-0DFDEF6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98CB4-738D-4F09-8E56-62DE0956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404084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D71D0-83AD-4BAB-BC02-653A8C07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12 /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B0D5D-C8E1-4DE3-B708-DEAD2F3B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融资后的每个阶段都要交付可验证的数据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C6865-7A25-45C0-B62B-9897B358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419350" cy="28575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8F4F7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1147-4E20-4AD1-8860-E3FC6474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0–3个月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44F4C-0B1A-4ABF-AABF-F71913FD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产品闭环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68914-6980-4737-98AE-D36F1516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真实资料连续学习可用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完成生产云端验收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3B4AB-0C4B-4AE9-8F41-C5A7564B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质量门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EA465-CD12-4EB9-8799-0AE53EE2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47850"/>
            <a:ext cx="2419350" cy="28575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8536F-7668-41B4-A227-2752656E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3–6个月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647C2-828F-454D-9627-E8011C99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留存验证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278DC-2578-4DFC-96E9-90F76DB8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0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7日 / 30日留存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周学习天数与完成率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A13DD-30E1-4D7D-BE5E-ECF6A550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PMF门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ED6E4-1EB5-4EEF-94C4-2DAF58ED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2419350" cy="28575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8F4F7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33C59-9DAB-4828-8299-3BA1233E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6–12个月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61395-6C31-4692-9EFF-FE0B01CD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付费验证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F0071-C722-4F47-BB7C-66E6389A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Pro订阅上线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转化率、ARPU与毛利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38FFE-D642-4A7E-B988-E356FE23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商业门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0D1FD-3B21-43BA-9A43-18120CE1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419350" cy="28575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8F4F7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E3C69-97E5-4A78-85CC-623AF8F9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12–18个月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83510-C899-4651-80D7-CED20C09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扩张验证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4F1DE-BF7D-44F9-B69E-96D949C1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机构试点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桌宠原型与预售测试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E57D6-6A2A-46A1-BCC5-46F468D6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1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规模门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44158-596C-4380-920F-97A1CAF6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首个目标创建率 · 资料上传率 · 任务完成率 · 复习正确率 · 单用户AI成本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6DDE9-DE4C-4E66-ACA5-614B61E1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5245A-0E97-4C99-A017-D2691EBE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72680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F25DF-F3B4-46F7-9FBE-4C0C42B7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13 / 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FD851-5D04-4345-80E8-C13F681C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建议天使轮融资 200–500 万元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A5A42-F1DA-45D9-919C-93CB8810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资金目标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46959-E121-4990-A65C-4A28CB57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完成产品闭环，验证留存与付费，建立一个高频垂直场景。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50F74-00DC-4981-A310-D5D81500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40%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A508F-4BA2-4DA4-AD1D-36C3C2F5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52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产品与工程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086DA-F183-484B-A563-DC65A7F7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52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rPr>
              <a:t>课程引擎、跨端稳定性、生产云端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8506D-9880-49F1-B034-6453B4D3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5C5EE-212B-43EF-984A-69105698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D65ED-E89C-4C26-B821-DB403605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385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增长与内容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13528-4027-4BD6-88C5-33BEB079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rPr>
              <a:t>垂直场景模板、渠道和用户研究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A94FF-A4D2-43E3-9381-80722558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BFFDC-8771-47FA-81E1-5D659C2E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B5861-6060-4987-9437-1D726E3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AI成本与安全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5EE16-F625-4CE4-8035-F81B5577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243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rPr>
              <a:t>模型路由、缓存、限流与隐私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3922E-9A48-4CC8-8606-E49430CB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4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50F43-0B23-4068-A9EE-71B74CD2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15%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A940A-33F6-49C8-AAD3-A4E09ED2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01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硬件验证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09D88-8696-4AB2-931F-BC0C6404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101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rPr>
              <a:t>桌宠原型与供应链小批量测试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297DB-E2EC-4C73-8F05-6B639446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5C0D6-0F20-4D95-8674-B1DAFAE4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A4B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FA4B2"/>
                </a:solidFill>
                <a:latin typeface="Noto Sans SC"/>
                <a:ea typeface="Noto Sans SC"/>
                <a:cs typeface="Noto Sans SC"/>
              </a:rPr>
              <a:t>融资金额为建议区间；估值和股份比例需结合团队、内测与成本数据确定。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1F21D-2B21-4AA1-8492-2A8C4D50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1216E-E66D-4AEA-8759-DEBB403B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480126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FD24B-6381-4C7B-B1B1-05D2E3CE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14 /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6973D-F10F-4647-880A-67A1428F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现有技术资产明确，团队履历与商业数据需要补齐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01597-7E04-4618-82A7-A7ABB550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已具备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97204-18C3-4177-9DCF-BB3BB79D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完整的跨端产品原型与品牌角色 Alice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目标、课程理解、掌握度与连续计划代码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关系记忆、语音、桌宠与云端迁移设计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8E072-6CDE-47C5-9181-7FB95786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路演前补齐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88A1D-D1E1-46B0-A6F7-3A9E29F3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创始人姓名、履历、分工和全职状态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内测用户、留存、完成率与AI成本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18个月预算、估值依据与本轮股权比例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知识产权、数据合规与硬件供应链资源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F7221-603B-46B0-AF4C-6F6EC3F6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5727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7B8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A6C9B-1654-4240-8CC9-48603FD0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1003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投资人最终投的是团队执行能力；这一页必须由创始人真实信息替换。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E9DEB-9DAA-45FC-B368-3A9B8AC4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660E3-43A8-442D-A958-67C271D7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911393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f1fb125394671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FDE40-2DA7-481D-BB40-A470D2D7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E16">
              <a:alpha val="6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31B30-412A-47FD-A5A2-6D925954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QUESTMIND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37BE3-A7B9-4B39-B52D-35E46B78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47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让每个目标，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都有一条能走完的路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ACACE-DFAD-4CFF-9EEF-ADE5D7E5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8D9E3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E8D9E3"/>
                </a:solidFill>
                <a:latin typeface="Noto Sans SC"/>
                <a:ea typeface="Noto Sans SC"/>
                <a:cs typeface="Noto Sans SC"/>
              </a:rPr>
              <a:t>AI陪伴式目标学习平台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FC553-5C4F-418B-B1E3-BFE840B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8BDC9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8BDC9"/>
                </a:solidFill>
                <a:latin typeface="Noto Sans SC"/>
                <a:ea typeface="Noto Sans SC"/>
                <a:cs typeface="Noto Sans SC"/>
              </a:rPr>
              <a:t>联系人：[待补充]    邮箱：[待补充]    微信：[待补充]</a:t>
            </a:r>
          </a:p>
        </p:txBody>
      </p:sp>
    </p:spTree>
    <p:extLst>
      <p:ext uri="{BB962C8B-B14F-4D97-AF65-F5344CB8AC3E}">
        <p14:creationId xmlns:p14="http://schemas.microsoft.com/office/powerpoint/2010/main" val="661261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2026-09-08T11:09:42.6900000Z</dcterms:created>
  <dcterms:modified xsi:type="dcterms:W3CDTF">2026-09-08T11:09:42.6900000Z</dcterms:modified>
</coreProperties>
</file>