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f03fbff0ad4029" /><Relationship Type="http://schemas.openxmlformats.org/officeDocument/2006/relationships/extended-properties" Target="/docProps/app.xml" Id="R4dc20ba49aef47ec" /><Relationship Type="http://schemas.openxmlformats.org/officeDocument/2006/relationships/officeDocument" Target="/ppt/presentation.xml" Id="Rf07977c0541f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883f3ec5c44bb1"/>
  </p:sldMasterIdLst>
  <p:notesMasterIdLst>
    <p:notesMasterId xmlns:r="http://schemas.openxmlformats.org/officeDocument/2006/relationships" r:id="R676c2a4e76084f4f"/>
  </p:notesMasterIdLst>
  <p:sldIdLst>
    <p:sldId xmlns:r="http://schemas.openxmlformats.org/officeDocument/2006/relationships" id="256" r:id="Rc7ee543524f245f9"/>
    <p:sldId xmlns:r="http://schemas.openxmlformats.org/officeDocument/2006/relationships" id="257" r:id="Raaa91b3ff9bf4463"/>
    <p:sldId xmlns:r="http://schemas.openxmlformats.org/officeDocument/2006/relationships" id="258" r:id="R1d2e6afc95af4269"/>
    <p:sldId xmlns:r="http://schemas.openxmlformats.org/officeDocument/2006/relationships" id="259" r:id="R28c925215bf64d4f"/>
    <p:sldId xmlns:r="http://schemas.openxmlformats.org/officeDocument/2006/relationships" id="260" r:id="R6e8a2c4f2d5f433a"/>
    <p:sldId xmlns:r="http://schemas.openxmlformats.org/officeDocument/2006/relationships" id="261" r:id="R7801526ad3c04615"/>
    <p:sldId xmlns:r="http://schemas.openxmlformats.org/officeDocument/2006/relationships" id="262" r:id="R492b8029a6644814"/>
    <p:sldId xmlns:r="http://schemas.openxmlformats.org/officeDocument/2006/relationships" id="263" r:id="R5cbcb531491e4f28"/>
    <p:sldId xmlns:r="http://schemas.openxmlformats.org/officeDocument/2006/relationships" id="264" r:id="R10008df927894252"/>
    <p:sldId xmlns:r="http://schemas.openxmlformats.org/officeDocument/2006/relationships" id="265" r:id="R118c7de5396e46db"/>
    <p:sldId xmlns:r="http://schemas.openxmlformats.org/officeDocument/2006/relationships" id="266" r:id="Ref46540905ec4c73"/>
    <p:sldId xmlns:r="http://schemas.openxmlformats.org/officeDocument/2006/relationships" id="267" r:id="Rd96b76430edf427a"/>
    <p:sldId xmlns:r="http://schemas.openxmlformats.org/officeDocument/2006/relationships" id="268" r:id="R637405b647444e66"/>
    <p:sldId xmlns:r="http://schemas.openxmlformats.org/officeDocument/2006/relationships" id="269" r:id="R1cd8a83718e84c2e"/>
    <p:sldId xmlns:r="http://schemas.openxmlformats.org/officeDocument/2006/relationships" id="270" r:id="Rc47e00fff3f04feb"/>
    <p:sldId xmlns:r="http://schemas.openxmlformats.org/officeDocument/2006/relationships" id="271" r:id="Raeda2c1e27004b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e3d8e2a37b4b83" /><Relationship Type="http://schemas.openxmlformats.org/officeDocument/2006/relationships/slideMaster" Target="/ppt/slideMasters/slideMaster1.xml" Id="R71883f3ec5c44bb1" /><Relationship Type="http://schemas.openxmlformats.org/officeDocument/2006/relationships/notesMaster" Target="/ppt/notesMasters/notesMaster1.xml" Id="R676c2a4e76084f4f" /><Relationship Type="http://schemas.openxmlformats.org/officeDocument/2006/relationships/presProps" Target="/ppt/presProps.xml" Id="R52362ab6910e41b1" /><Relationship Type="http://schemas.openxmlformats.org/officeDocument/2006/relationships/tableStyles" Target="/ppt/tableStyles.xml" Id="R0921c058285a4d1c" /><Relationship Type="http://schemas.openxmlformats.org/officeDocument/2006/relationships/slide" Target="/ppt/slides/slide1.xml" Id="Rc7ee543524f245f9" /><Relationship Type="http://schemas.openxmlformats.org/officeDocument/2006/relationships/slide" Target="/ppt/slides/slide2.xml" Id="Raaa91b3ff9bf4463" /><Relationship Type="http://schemas.openxmlformats.org/officeDocument/2006/relationships/slide" Target="/ppt/slides/slide3.xml" Id="R1d2e6afc95af4269" /><Relationship Type="http://schemas.openxmlformats.org/officeDocument/2006/relationships/slide" Target="/ppt/slides/slide4.xml" Id="R28c925215bf64d4f" /><Relationship Type="http://schemas.openxmlformats.org/officeDocument/2006/relationships/slide" Target="/ppt/slides/slide5.xml" Id="R6e8a2c4f2d5f433a" /><Relationship Type="http://schemas.openxmlformats.org/officeDocument/2006/relationships/slide" Target="/ppt/slides/slide6.xml" Id="R7801526ad3c04615" /><Relationship Type="http://schemas.openxmlformats.org/officeDocument/2006/relationships/slide" Target="/ppt/slides/slide7.xml" Id="R492b8029a6644814" /><Relationship Type="http://schemas.openxmlformats.org/officeDocument/2006/relationships/slide" Target="/ppt/slides/slide8.xml" Id="R5cbcb531491e4f28" /><Relationship Type="http://schemas.openxmlformats.org/officeDocument/2006/relationships/slide" Target="/ppt/slides/slide9.xml" Id="R10008df927894252" /><Relationship Type="http://schemas.openxmlformats.org/officeDocument/2006/relationships/slide" Target="/ppt/slides/slide10.xml" Id="R118c7de5396e46db" /><Relationship Type="http://schemas.openxmlformats.org/officeDocument/2006/relationships/slide" Target="/ppt/slides/slide11.xml" Id="Ref46540905ec4c73" /><Relationship Type="http://schemas.openxmlformats.org/officeDocument/2006/relationships/slide" Target="/ppt/slides/slide12.xml" Id="Rd96b76430edf427a" /><Relationship Type="http://schemas.openxmlformats.org/officeDocument/2006/relationships/slide" Target="/ppt/slides/slide13.xml" Id="R637405b647444e66" /><Relationship Type="http://schemas.openxmlformats.org/officeDocument/2006/relationships/slide" Target="/ppt/slides/slide14.xml" Id="R1cd8a83718e84c2e" /><Relationship Type="http://schemas.openxmlformats.org/officeDocument/2006/relationships/slide" Target="/ppt/slides/slide15.xml" Id="Rc47e00fff3f04feb" /><Relationship Type="http://schemas.openxmlformats.org/officeDocument/2006/relationships/slide" Target="/ppt/slides/slide16.xml" Id="Raeda2c1e27004b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6a112388e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307938d5943b6" /><Relationship Type="http://schemas.openxmlformats.org/officeDocument/2006/relationships/notesMaster" Target="/ppt/notesMasters/notesMaster1.xml" Id="R7d592d10d8384e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39a751a35a4525" /><Relationship Type="http://schemas.openxmlformats.org/officeDocument/2006/relationships/notesMaster" Target="/ppt/notesMasters/notesMaster1.xml" Id="Re74b2d9c9bb54d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324cd5c85b489a" /><Relationship Type="http://schemas.openxmlformats.org/officeDocument/2006/relationships/notesMaster" Target="/ppt/notesMasters/notesMaster1.xml" Id="Ra52561698db74f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12e1dea29b429b" /><Relationship Type="http://schemas.openxmlformats.org/officeDocument/2006/relationships/notesMaster" Target="/ppt/notesMasters/notesMaster1.xml" Id="Rb70353e7351b4d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041f53ec2f4721" /><Relationship Type="http://schemas.openxmlformats.org/officeDocument/2006/relationships/notesMaster" Target="/ppt/notesMasters/notesMaster1.xml" Id="R9d775f894ae041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b6f651f59c4faf" /><Relationship Type="http://schemas.openxmlformats.org/officeDocument/2006/relationships/notesMaster" Target="/ppt/notesMasters/notesMaster1.xml" Id="R3ebb69d6f0c245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5c140c73a5441f" /><Relationship Type="http://schemas.openxmlformats.org/officeDocument/2006/relationships/notesMaster" Target="/ppt/notesMasters/notesMaster1.xml" Id="Re873059d6b4846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c73b17bab147ac" /><Relationship Type="http://schemas.openxmlformats.org/officeDocument/2006/relationships/notesMaster" Target="/ppt/notesMasters/notesMaster1.xml" Id="R05809b52f03447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9a7a2d0d784934" /><Relationship Type="http://schemas.openxmlformats.org/officeDocument/2006/relationships/notesMaster" Target="/ppt/notesMasters/notesMaster1.xml" Id="R41095016d72644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04db0f8d074bcd" /><Relationship Type="http://schemas.openxmlformats.org/officeDocument/2006/relationships/notesMaster" Target="/ppt/notesMasters/notesMaster1.xml" Id="R3b942d0e25004b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80c010230b4a5a" /><Relationship Type="http://schemas.openxmlformats.org/officeDocument/2006/relationships/notesMaster" Target="/ppt/notesMasters/notesMaster1.xml" Id="R8c87ae83ad9543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13c4cd9d3b42f8" /><Relationship Type="http://schemas.openxmlformats.org/officeDocument/2006/relationships/notesMaster" Target="/ppt/notesMasters/notesMaster1.xml" Id="Rda44adf98bd74e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0a72c7de7749f0" /><Relationship Type="http://schemas.openxmlformats.org/officeDocument/2006/relationships/notesMaster" Target="/ppt/notesMasters/notesMaster1.xml" Id="Rf29d9c5db3fa41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3a32c575724dc8" /><Relationship Type="http://schemas.openxmlformats.org/officeDocument/2006/relationships/notesMaster" Target="/ppt/notesMasters/notesMaster1.xml" Id="Re246508f6d5b49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91866e2dbb45f6" /><Relationship Type="http://schemas.openxmlformats.org/officeDocument/2006/relationships/notesMaster" Target="/ppt/notesMasters/notesMaster1.xml" Id="R65e9b59d5b224d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1a617060ed4022" /><Relationship Type="http://schemas.openxmlformats.org/officeDocument/2006/relationships/notesMaster" Target="/ppt/notesMasters/notesMaster1.xml" Id="R529222b4e6374c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封面使用项目自有 Alice CG。开场一句：QuestMind 把用户的一句话目标，变成每天能完成的行动，并在整个过程中由 Alice 持续陪伴。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问题判断来自 QuestMind 当前产品设计。这里不使用未经验证的用户调查数字，正式路演应替换成创始团队访谈和内测数据。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核心闭环来自 Goals、course-engine、LectureRoom、测验、复习队列和 Alice 对话代码。所有节点在 PPT 中保持可编辑。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来源：教育部《2024年全国教育事业发展统计公报》；Google NotebookLM 2025年4月学习功能公告；Character.AI 2025年2月技术博客；Duolingo 2025年Form 10-K。数据口径不同，仅作为相邻需求的规模信号。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画面来自项目现有宣传视频的渲染帧。可演示功能包括AI目标向导、目标列表、每日任务、学习指南和Alice目标对话。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技术事实来自 src/course-engine：documentClassifier、pedagogicalExtractor、engine、continuity、repository、service。当前属于可运行MVP，需要用真实复杂资料继续验证抽取质量。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功能来自 GoalDetailPanel、QuizDialog、FinalExamDialog、LectureRoom 和 CourseLearningPanel。图片为项目现有产品演示帧。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Alice关系层来自 aliceRelationship.service.ts，并覆盖小屋、Goals和桌宠入口。云端跨设备同步需要在生产Supabase完成迁移与真实账号验收。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技术栈来自 package.json、App.tsx、services、course-engine、src-tauri、android和Supabase迁移。生产部署、RLS和跨端安装包仍需端到端验证。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竞品参照：ChatGPT Study Mode支持分步引导、资料和记忆；NotebookLM支持资料问答、学习指南、闪卡与测验；Character.AI代表角色关系；效率工具代表目标与任务管理。位置为产品定位判断，不是量化测评。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商业模式为建议方案，支付、订阅、团队版和硬件尚未形成完整生产实现。Duolingo 2025年末付费订阅用户为1,220万，证明免费学习产品存在订阅转化空间，但QuestMind仍需自行验证转化率。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渠道和场景是建议方案。正式执行前应选择考研、考公、四六级、职业资格、编程或语言中的一个主场景，用4到6周小规模实验验证。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当前没有真实用户与收入数据。本页给出融资后的指标框架，所有数字应由埋点和真实用户测试产生。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融资区间沿用项目既有规划。资金比例为建议，不代表已批准预算。与投资人沟通前需补齐团队薪酬、AI推理成本、获客预算和18个月现金流。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此页故意保留团队信息缺口，避免编造创始人履历。对外发送前必须替换为真实团队介绍。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结束页。对外发送前补充联系人。可在这里邀请投资人观看三分钟产品演示。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3d22c6ea440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bd40af88034095" /><Relationship Type="http://schemas.openxmlformats.org/officeDocument/2006/relationships/slideLayout" Target="/ppt/slideLayouts/slideLayout1.xml" Id="Rf56ea812085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6ea812085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c0a13462d4c77" /><Relationship Type="http://schemas.openxmlformats.org/officeDocument/2006/relationships/image" Target="/ppt/media/image.jpeg" Id="R1282d4d7d5ce4931" /><Relationship Type="http://schemas.openxmlformats.org/officeDocument/2006/relationships/notesSlide" Target="/ppt/notesSlides/notesSlide1.xml" Id="Rb3d0fa3be39e4f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4b4902d144ec9" /><Relationship Type="http://schemas.openxmlformats.org/officeDocument/2006/relationships/notesSlide" Target="/ppt/notesSlides/notesSlide2.xml" Id="Rda37e7759c3145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560b7ebf94ff0" /><Relationship Type="http://schemas.openxmlformats.org/officeDocument/2006/relationships/notesSlide" Target="/ppt/notesSlides/notesSlide3.xml" Id="R894f3108e5e343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19f8a8060494c" /><Relationship Type="http://schemas.openxmlformats.org/officeDocument/2006/relationships/notesSlide" Target="/ppt/notesSlides/notesSlide4.xml" Id="R9665d9a7e84d44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b6d94e69042bb" /><Relationship Type="http://schemas.openxmlformats.org/officeDocument/2006/relationships/image" Target="/ppt/media/image.png" Id="Reeb963f9a5814c64" /><Relationship Type="http://schemas.openxmlformats.org/officeDocument/2006/relationships/image" Target="/ppt/media/image2.png" Id="Rd91d1c9b50f54229" /><Relationship Type="http://schemas.openxmlformats.org/officeDocument/2006/relationships/notesSlide" Target="/ppt/notesSlides/notesSlide5.xml" Id="R7bd93b17114a46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3210bb0af4d07" /><Relationship Type="http://schemas.openxmlformats.org/officeDocument/2006/relationships/image" Target="/ppt/media/image3.png" Id="Ra72c392174544ee4" /><Relationship Type="http://schemas.openxmlformats.org/officeDocument/2006/relationships/notesSlide" Target="/ppt/notesSlides/notesSlide6.xml" Id="Rd6bc4985299949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45cb42b0d4519" /><Relationship Type="http://schemas.openxmlformats.org/officeDocument/2006/relationships/image" Target="/ppt/media/image4.png" Id="R158b6231a49241e3" /><Relationship Type="http://schemas.openxmlformats.org/officeDocument/2006/relationships/notesSlide" Target="/ppt/notesSlides/notesSlide7.xml" Id="R8bad1716fd3a41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c34a889d547ec" /><Relationship Type="http://schemas.openxmlformats.org/officeDocument/2006/relationships/image" Target="/ppt/media/image2.jpeg" Id="R3093c5faec794148" /><Relationship Type="http://schemas.openxmlformats.org/officeDocument/2006/relationships/image" Target="/ppt/media/image5.png" Id="R81d8a02b9e2c4da2" /><Relationship Type="http://schemas.openxmlformats.org/officeDocument/2006/relationships/notesSlide" Target="/ppt/notesSlides/notesSlide8.xml" Id="Rde25c852bb8949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28967f3644390" /><Relationship Type="http://schemas.openxmlformats.org/officeDocument/2006/relationships/notesSlide" Target="/ppt/notesSlides/notesSlide9.xml" Id="R6b79a293399e48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fadcef938472e" /><Relationship Type="http://schemas.openxmlformats.org/officeDocument/2006/relationships/notesSlide" Target="/ppt/notesSlides/notesSlide10.xml" Id="R3ebb12c269b545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eb44780b74346" /><Relationship Type="http://schemas.openxmlformats.org/officeDocument/2006/relationships/notesSlide" Target="/ppt/notesSlides/notesSlide11.xml" Id="R5121d60fa33e4e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03d531e004d15" /><Relationship Type="http://schemas.openxmlformats.org/officeDocument/2006/relationships/notesSlide" Target="/ppt/notesSlides/notesSlide12.xml" Id="R2217dc1ff1d840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5dde85ec24a89" /><Relationship Type="http://schemas.openxmlformats.org/officeDocument/2006/relationships/notesSlide" Target="/ppt/notesSlides/notesSlide13.xml" Id="R433941e00c9644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261d61222453c" /><Relationship Type="http://schemas.openxmlformats.org/officeDocument/2006/relationships/notesSlide" Target="/ppt/notesSlides/notesSlide14.xml" Id="R5dfb65b3641942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6f7f0e2424c58" /><Relationship Type="http://schemas.openxmlformats.org/officeDocument/2006/relationships/notesSlide" Target="/ppt/notesSlides/notesSlide15.xml" Id="R432739ced4b344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cf83513854838" /><Relationship Type="http://schemas.openxmlformats.org/officeDocument/2006/relationships/image" Target="/ppt/media/image3.jpeg" Id="Rb74936129aa5488c" /><Relationship Type="http://schemas.openxmlformats.org/officeDocument/2006/relationships/notesSlide" Target="/ppt/notesSlides/notesSlide16.xml" Id="R876b29f784b543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2d4d7d5ce49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57C76-A52D-4903-8EBA-34E2EE5F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E16">
              <a:alpha val="6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BE9B3-0149-4F17-B796-6FCA8EE1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9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908AD-980F-4B41-941E-F7EE847B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QUESTMIND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F9D78-7AF0-439B-8B39-DC9BF023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让目标真正发生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9EBF8-2000-4D72-AE3D-2CBE22E7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DDE8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F2DDE8"/>
                </a:solidFill>
                <a:latin typeface="Noto Sans SC"/>
                <a:ea typeface="Noto Sans SC"/>
                <a:cs typeface="Noto Sans SC"/>
              </a:rPr>
              <a:t>AI陪伴式目标学习平台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AD129-7F4C-4D59-B260-F9FF3C5E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2C5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2C5D4"/>
                </a:solidFill>
                <a:latin typeface="Noto Sans SC"/>
                <a:ea typeface="Noto Sans SC"/>
                <a:cs typeface="Noto Sans SC"/>
              </a:rPr>
              <a:t>目标执行引擎  ×  私有资料学习  ×  Alice长期陪伴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C69A6-D3F7-4194-AF62-3E23B399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2C5D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D2C5D4"/>
                </a:solidFill>
                <a:latin typeface="Noto Sans SC"/>
                <a:ea typeface="Noto Sans SC"/>
                <a:cs typeface="Noto Sans SC"/>
              </a:rPr>
              <a:t>天使轮商业计划书｜2026</a:t>
            </a:r>
          </a:p>
        </p:txBody>
      </p:sp>
    </p:spTree>
    <p:extLst>
      <p:ext uri="{BB962C8B-B14F-4D97-AF65-F5344CB8AC3E}">
        <p14:creationId xmlns:p14="http://schemas.microsoft.com/office/powerpoint/2010/main" val="1538057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F77B3-E8BB-4F2F-BB3F-DCED81D6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3F2B7-6C2E-453B-AB47-EB023957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学习工具解决了信息，却没有解决持续完成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96C0A-BEC4-499A-9A74-1C08455A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D7FAB-5868-45FE-867D-65D5C614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00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目标太大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7D385-F660-45AE-9AE6-292A745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002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用户知道想完成什么，却不知道今天应该做哪一步。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E2B72-EC83-451E-AD44-BA1AE57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88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224C9-1466-4212-9CDE-F9A3E9C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F4F60-8260-4911-AB37-DA35C678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资料太散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06E92-93B2-4C78-985C-BD2948F8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670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教材、课件和试卷没有被组织成个人学习路径。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63C64-B2DC-4126-A300-7B8A0C20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BAE0D-EBF5-4242-B04A-3C2B5709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FB33E-DAC9-4A77-A5E7-1DA71798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反馈太晚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22412-D610-4CA2-A07C-62C1EEE0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用户直到考试或放弃时，才发现自己没有真正掌握。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94DDF-4BDC-40B5-8BA1-756871F8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D1861-903E-4A30-AD9A-5355C8B1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8CA19-B5C1-45C9-9514-7DA1724B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陪伴太浅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75DD1-5C7E-4466-9C84-1517C165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通用聊天缺少目标进度、长期状态和稳定关系。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17106-5695-4337-AD80-953E891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292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C95AD-E2C2-487B-ACED-555732E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3442A-1CC1-4824-A764-4566E650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9528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DC2730-7536-45F9-A886-8A6ABADD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02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F69FE-011D-4C0C-99EE-EC8277D8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一个目标进入系统后，形成可持续更新的学习闭环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BA663-4CAF-4076-BAA9-50A9CE8D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3587E-99E3-4621-9E53-CDD73298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F57B9-3FAD-46CA-83B1-45524DF1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目标输入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0888A-DA27-4DB8-8D1A-87883823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目标、期限、当前状态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DDD1E-7303-473B-964C-1AE42C2D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909EA-918C-41EE-8BEA-18C8729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F465B-7476-4001-994E-7E729EDD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计划生成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A4104-16A5-41CF-BE20-CE2DE360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子目标与每日任务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0E4A3-14A2-4319-916B-099F710B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C8148-445D-4109-8C07-7701817D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76E67-FB30-429D-B5A9-0AED9D8E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资料理解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C5C1B-2AF9-49F8-BF3C-F3AA9747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知识点、证据与重点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8CA3B-E6E5-4A0A-AB4C-73B57F52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4C1E34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D620F-8E9F-462D-8254-53A6C11D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626CB-4B33-4E67-8746-FC89422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执行陪伴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97DA1-FF69-4131-A0AB-D26A0FAF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计时、讲解与提醒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0FE37-F962-4C89-8BA4-5623A129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13798-B216-42DF-AFBA-9AF2276F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39BFA-4BDD-46D2-BFD2-48D5982E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测验反馈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3D836-30B9-4A2C-A0A6-CF0FBB42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掌握度与错误标签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157D9-0108-4403-A3F9-1D15FDE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1428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26202C"/>
          </a:solidFill>
          <a:ln xmlns:a="http://schemas.openxmlformats.org/drawingml/2006/main" w="9525">
            <a:solidFill>
              <a:srgbClr val="4A3E4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018EC-FE53-4DE5-9FFA-623BD19A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31C6DA-203C-4E9F-98A8-9082547C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051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动态调整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5C507-609B-46F9-ADAD-F46F71F2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复习队列与计划修订</a:t>
            </a:r>
          </a:p>
        </p:txBody>
      </p:sp>
      <p:cxnSp>
        <p:nvCxnSpPr>
          <p:cNvPr id="62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697C"/>
            </a:solidFill>
            <a:head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00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697C"/>
            </a:solidFill>
            <a:head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05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5D96"/>
            </a:solidFill>
            <a:head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10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697C"/>
            </a:solidFill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7155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697C"/>
            </a:solidFill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B5AA03-46E3-4D94-ADB4-8D6BAB18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计划会随资料与学习行为持续变化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25B18B-C04A-4136-9271-1D0C09A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292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9BECF"/>
                </a:solidFill>
                <a:latin typeface="Noto Sans SC"/>
                <a:ea typeface="Noto Sans SC"/>
                <a:cs typeface="Noto Sans SC"/>
              </a:rPr>
              <a:t>Alice贯穿目标、讲解、反馈与复盘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FD1CD1-4C00-4128-8D7F-F911F680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9A42D8-B320-4BFE-8B39-5CE218B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1494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B91D0-0E51-4C2F-ACB1-FD3E7DFB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03 / MARKET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87E88-5931-4F80-A117-08DCDC19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教育、AI学习与角色陪伴已经分别形成规模需求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67A76-EE5C-423D-A749-B9D81B32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4,846 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C0A22-8E8A-4E71-9647-2D43222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D9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F277B-C6ED-43E7-A48A-1D7CB68D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2024年中国高等教育在学总规模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EDB96-EA18-4E22-A49F-23AB8A56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数万所学校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1BC1D-CEA8-4A43-B0F5-2D121D6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4790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79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DA7D5-C8AD-4E34-A0F7-5481FB29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Google称学校已使用NotebookLM辅助学习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854C3-DD8D-418D-9430-63F5F2FA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2,000万+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69FC6-633C-453B-9FAF-5829E212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7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EB210-A8E0-4252-ABC8-D38ED068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Character.AI披露的月活用户规模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E478D-E7B2-4FF1-B18A-39DEB599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95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1,220万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AE479-041B-4908-881C-3B09F0DA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A8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B975B-567F-4010-8C39-EC0D5879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Duolingo 2025年末付费订阅用户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17B3-ECE1-4F5E-ADD0-281A1FFE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AAC8B-E8DE-4AD8-BA20-5AD8B98C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QuestMind的机会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4A00C-5260-4D3C-8245-7A5CEB46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481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将学习结果、个人资料和长期角色关系放进同一产品，先从考试与自学人群切入。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5751D-32BA-437A-83AE-1F4E194A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以上数据用于证明需求方向，并非QuestMind当前TAM或收入预测。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F5AB7-C2AF-4625-8DF6-EBE9ED52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55355-3ACF-4810-92E9-20106A55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20342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E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4DCF1-63E7-4E29-8408-8BA117AC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04 /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46991-9DAF-4A01-B0F6-F44FFFC1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代码已经覆盖从智能建目标到每日执行的核心体验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963f9a5814c64"/>
          <a:srcRect xmlns:a="http://schemas.openxmlformats.org/drawingml/2006/main" l="13699" t="0" r="13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428750"/>
            <a:ext cx="5286375" cy="40957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d1c9b50f54229"/>
          <a:srcRect xmlns:a="http://schemas.openxmlformats.org/drawingml/2006/main" l="13699" t="0" r="13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7925" y="1428750"/>
            <a:ext cx="528637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46BA0-5458-4E96-904D-42590EAB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AI追问现状后生成计划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CE1E7-9B78-4601-93E5-7D1C612C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6769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目标、任务、学习指南与Alice同屏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EBC1D-895E-480A-996E-E86FB3B9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CEC96-DF38-4058-80ED-8CFFEDB2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3570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A911E-4100-4B5C-B501-9A48317C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05 / LEARNING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2ADF0-6F2B-4144-B646-C88D578C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私有资料被转化为知识结构、掌握度和下一步任务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89BCA-8B69-44AE-AEBA-92D4071D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83820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169CE-6C50-4B6D-B9D6-825E8E8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95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资料层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0DAAA-C669-4213-ABFB-181FE759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教材 · 课件 · 笔记 · 试卷 · 错题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FA0FA-4692-4E63-8D03-2FDD1D69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74676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4EFFB"/>
          </a:solidFill>
          <a:ln xmlns:a="http://schemas.openxmlformats.org/drawingml/2006/main" w="9525">
            <a:solidFill>
              <a:srgbClr val="8E79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37A4C-9CDC-4CB3-B2C2-3A1F53DD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86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理解层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23A1E-C862-45D0-93F8-A6A0B155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教学块 · 知识节点 · 先修关系 · 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FAE83-94C2-4FF1-B63A-C4EAE014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62350"/>
            <a:ext cx="65532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59A7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8D148-1C06-4EEA-8792-5B7B53EB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76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rPr>
              <a:t>决策层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96C20-65CB-4F4E-8EB0-71753DED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7665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重要度 · 掌握度 · 错误标签 · 复习队列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A25A1-9937-48A2-A404-8065FB05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52950"/>
            <a:ext cx="56388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4EFFB"/>
          </a:solidFill>
          <a:ln xmlns:a="http://schemas.openxmlformats.org/drawingml/2006/main" w="9525">
            <a:solidFill>
              <a:srgbClr val="50A87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B313C-2762-4368-B811-D879D155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67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执行层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53A73-8539-4A06-B8F4-541DEB89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67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今日任务 · Alice讲解 · 小测 · 计划修订</a:t>
            </a:r>
          </a:p>
        </p:txBody>
      </p:sp>
      <p:cxnSp>
        <p:nvCxnSpPr>
          <p:cNvPr id="36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219700" y="22669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D6E1"/>
            </a:solidFill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219700" y="3257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D6E1"/>
            </a:solidFill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219700" y="42481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D6E1"/>
            </a:solidFill>
            <a:headEnd type="triangle" w="sm" len="sm"/>
          </a:ln>
        </p:spPr>
      </p:cxn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c392174544ee4"/>
          <a:stretch xmlns:a="http://schemas.openxmlformats.org/drawingml/2006/main"/>
        </p:blipFill>
        <p:spPr>
          <a:xfrm xmlns:a="http://schemas.openxmlformats.org/drawingml/2006/main">
            <a:off x="9620250" y="2428094"/>
            <a:ext cx="1905000" cy="1811311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0E761-397F-4690-955F-B9B95B2E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新资料上传后，系统可以增量更新计划并保留历史版本。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F576E-070C-428E-AE67-E3C8E174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5B903-2799-498E-88F3-7A6228E7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6052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E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BC52E-E879-41CE-B4DF-CD6045B2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06 / LEARNING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A50F5-882D-47E8-A388-BF296005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阅读、讲解、测验和复习发生在同一目标上下文中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b6231a49241e3"/>
          <a:srcRect xmlns:a="http://schemas.openxmlformats.org/drawingml/2006/main" l="15745" t="0" r="157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276350"/>
            <a:ext cx="5429250" cy="4457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D121D-71EE-4DE7-ABB8-805A656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PDF、Word、文本和图片进入同一个目标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Alice可讲解章节、提炼重点并更换例子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子目标小测与最终考试检查真实掌握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65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答对、答错和提示会更新后续复习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CBC4A-FDE0-42E1-ACAC-817BE02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学习结果继续影响计划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0B4B3-F4B9-4958-B875-FA7ED9C5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117B0-AD77-43C4-B658-0EBC296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9983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3c5faec794148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484AC-BFF6-4012-997D-096CBC07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D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B25B2-5CFE-48D0-B7DA-3FE46F76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07 / RETENTION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37024-DCBB-42E0-B990-AD3EEFA1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Alice把任务完成后的空白，变成持续关系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DDF17-D137-4975-948F-701933F8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381250" cy="2762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11B27">
              <a:alpha val="86000"/>
            </a:srgbClr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0E6A6-2ED6-4BAC-851D-AB35A0C7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关系空间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2D4A4-DBE3-4C59-A298-EB82577D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924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日常闲聊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情绪支持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久别问候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日记与兴趣分享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6CBB8-5984-445E-8E1F-5E9FC2A4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381250" cy="2762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11B27">
              <a:alpha val="86000"/>
            </a:srgbClr>
          </a:solidFill>
          <a:ln xmlns:a="http://schemas.openxmlformats.org/drawingml/2006/main" w="9525">
            <a:solidFill>
              <a:srgbClr val="8E79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27653-2553-438B-BA52-5939515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行动空间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8F6A4-3241-4276-824E-CE8ABEA9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86050"/>
            <a:ext cx="1924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目标推进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学习讲解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任务反馈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复盘与下一步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4FB59-BE2A-46A8-AB71-0257DA98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381250" cy="2762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211B27">
              <a:alpha val="86000"/>
            </a:srgbClr>
          </a:solidFill>
          <a:ln xmlns:a="http://schemas.openxmlformats.org/drawingml/2006/main" w="9525">
            <a:solidFill>
              <a:srgbClr val="C99A5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62B4F-DDCB-4787-A9FF-FC4AFCBA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记忆系统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5B867-71E9-486F-9B31-619A3A2A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924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偏好与关键时刻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待跟进事项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场景隔离</a:t>
            </a:r>
          </a:p>
          <a:p xmlns:a="http://schemas.openxmlformats.org/drawingml/2006/main">
            <a:pPr>
              <a:def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8CEDA"/>
                </a:solidFill>
                <a:latin typeface="Noto Sans SC"/>
                <a:ea typeface="Noto Sans SC"/>
                <a:cs typeface="Noto Sans SC"/>
              </a:rPr>
              <a:t>用户可删除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8a02b9e2c4da2"/>
          <a:stretch xmlns:a="http://schemas.openxmlformats.org/drawingml/2006/main"/>
        </p:blipFill>
        <p:spPr>
          <a:xfrm xmlns:a="http://schemas.openxmlformats.org/drawingml/2006/main">
            <a:off x="9124950" y="22288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E5835-8113-4FE9-99E6-19EF166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S0 初识  →  S3 长期陪伴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DA765-0B38-443F-B122-5B8CE241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992B2-7993-4EFA-A1AC-A09D478B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3028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11A3D-55F3-4CF1-B593-C60CD8D4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08 /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83D00-5007-4E70-9FAF-2B07E11E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同一套产品内核覆盖网页、桌面与Android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88C2D-1999-4E44-862E-BEC3F476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744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42FC6-D423-465F-B309-F68EA2B2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14300" cy="66675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E45D9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D2A4D-06F0-4D4D-95FA-EB7BF1D6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体验层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634FC-8BA3-44B4-B153-D0107DC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Home · Goals · LectureRoom · Room · Desktop Pet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B741C-F7AE-4C13-A573-CEBBB1A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744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A4F63-6D3F-456E-93F6-12AE0358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14300" cy="66675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8E79D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2F28-5861-408E-875D-727B272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智能层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661BF-4B9D-432C-A2F4-FA9DFDA4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AI计划 · 课程引擎 · 测验 · 对话决策 · 关系记忆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08876-332C-4D05-9EED-9E3C3F09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0744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1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A94D2-4E69-4111-A751-1C8FBA1E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14300" cy="66675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59A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FE10B-D6C3-4E1A-83DC-750EA2BE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rPr>
              <a:t>数据层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8B389-F7BC-470F-B58C-104372CE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Zustand本地持久化 · Supabase · Storage · RLS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C21BD-6B20-48F2-BEE5-BFF6E0A1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744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D9D8D-A5A7-4CF2-8286-12689C97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14300" cy="66675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50A87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F0248-1BD8-4749-A66D-AE94015B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交付层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86CF0-D3A3-4C6B-9D97-55A21F5C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Web · Tauri Windows/macOS · Capacitor Android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703C7-35EF-4203-98A6-94882095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本地优先，登录后同步；结构化上下文控制模型成本与噪声。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EB58C-5CBF-472A-8755-D61B725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78A05-881D-4F1E-85E1-DC1D1648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24682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FDA51-207E-49EC-8B9B-C7AD867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09 /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E59E1-6E1B-43F7-9FB6-565E0BDF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QuestMind占据持续执行与长期关系的交叉位置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B8B1B-ED3A-49D8-AACB-9C08F121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A7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097C6-E268-4F11-92FB-C575C2FD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A7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46223-4D05-4837-B7F7-74F5B960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57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rPr>
              <a:t>一次性回答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CF1D5-56A1-42D2-984C-413B4408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578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rPr>
              <a:t>持续执行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68D3F-A155-4A0C-A447-13346918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rPr>
              <a:t>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7C442-2E3C-4C1B-9377-79EDA05D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FB4C2"/>
                </a:solidFill>
                <a:latin typeface="Noto Sans SC"/>
                <a:ea typeface="Noto Sans SC"/>
                <a:cs typeface="Noto Sans SC"/>
              </a:rPr>
              <a:t>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4B5E0-CEC5-4D36-BD8C-F7D5B31C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13525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9222F"/>
          </a:solidFill>
          <a:ln xmlns:a="http://schemas.openxmlformats.org/drawingml/2006/main" w="9525">
            <a:solidFill>
              <a:srgbClr val="8E79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77062-E4A9-4CC4-B229-B2BB852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通用AI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F68B8-A82D-410F-B5F6-3418DA7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57750"/>
            <a:ext cx="13525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9222F"/>
          </a:solidFill>
          <a:ln xmlns:a="http://schemas.openxmlformats.org/drawingml/2006/main" w="9525">
            <a:solidFill>
              <a:srgbClr val="50A8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78EF8-FA6A-49F8-89BA-CBCDFD32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9530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效率工具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595C8-D684-4586-B487-46E1D461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13525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9222F"/>
          </a:solidFill>
          <a:ln xmlns:a="http://schemas.openxmlformats.org/drawingml/2006/main" w="9525">
            <a:solidFill>
              <a:srgbClr val="F59A7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1DE73-6BE2-486A-815F-1215181C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NotebookLM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FE865-48BA-4D01-B39C-C5421AF9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13525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9222F"/>
          </a:solidFill>
          <a:ln xmlns:a="http://schemas.openxmlformats.org/drawingml/2006/main" w="9525">
            <a:solidFill>
              <a:srgbClr val="C99A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4A466-5510-42F0-9555-6CFE4079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955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角色陪伴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09E3B-9A80-456A-9353-72583A78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16764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4C1E34"/>
          </a:solidFill>
          <a:ln xmlns:a="http://schemas.openxmlformats.org/drawingml/2006/main" w="9525">
            <a:solidFill>
              <a:srgbClr val="E45D9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5B849-C292-4C0F-AB45-07DAE2C0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050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QuestMind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8F23C-6196-437B-BF1C-470D0ECE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115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A4B2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AFA4B2"/>
                </a:solidFill>
                <a:latin typeface="Noto Sans SC"/>
                <a:ea typeface="Noto Sans SC"/>
                <a:cs typeface="Noto Sans SC"/>
              </a:rPr>
              <a:t>定位判断基于公开产品能力，不代表市场份额。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36D0C-5F87-49E4-86CB-8D68FA9D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0BC6F-6DF6-4AD2-8E21-C6CDF7CE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89185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3B3DF-2796-48E4-BCB2-39A8D91B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10 /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F4A89-ED2C-4CAB-ABF1-8F11F2AF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个人订阅先验证付费，角色与硬件扩大单用户价值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17C86-3E37-45A9-91E4-C1165B34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003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3F7"/>
          </a:solidFill>
          <a:ln xmlns:a="http://schemas.openxmlformats.org/drawingml/2006/main" w="9525">
            <a:solidFill>
              <a:srgbClr val="50A8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F40BA-9788-4DFB-A419-C91163C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FREE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CB62E-C704-476E-8BA2-EC827EEF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019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基础目标管理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有限AI对话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基础小测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16A63-BEB6-4111-998A-65B63A67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获客与习惯建立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0DB90-DA6C-41EE-B045-EE77AFA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2400300" cy="25527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C634E-209C-4E4A-A971-511EA156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PRO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C8B9E-9421-4260-9529-75C7CDC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2019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更多资料与额度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高级课程分析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完整语音与记忆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DE4BB-0835-4875-A673-27CFF520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19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月付 / 年付订阅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78334-6066-440A-B1D9-DC4023EE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2400300" cy="30099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7F3F7"/>
          </a:solidFill>
          <a:ln xmlns:a="http://schemas.openxmlformats.org/drawingml/2006/main" w="9525">
            <a:solidFill>
              <a:srgbClr val="8E79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416F6-AB6F-485E-90F3-E26F485D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0AEE0-3C69-407D-A70D-D584FFF8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2019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考试冲刺包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语言与编程模板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角色与房间内容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0F265-7C28-4BB7-92BB-EF4E62EE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单次购买 / 会员权益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3EA34-C537-404B-BBF8-DAE31C02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400300" cy="34671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7F3F7"/>
          </a:solidFill>
          <a:ln xmlns:a="http://schemas.openxmlformats.org/drawingml/2006/main" w="9525">
            <a:solidFill>
              <a:srgbClr val="C99A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BFD98-5F54-4B0E-AD6D-B499A55E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383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9A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C99A52"/>
                </a:solidFill>
                <a:latin typeface="Noto Sans SC"/>
                <a:ea typeface="Noto Sans SC"/>
                <a:cs typeface="Noto Sans SC"/>
              </a:rPr>
              <a:t>HARDWARE + B2B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523EF-BE04-41CE-9D8E-1D956CC6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14600"/>
            <a:ext cx="2019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Alice桌宠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学校与机构团队版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0B3C1-12C8-48B2-8988-26E70535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19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设备毛利 / 席位授权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6D8BE-4AD4-407C-818E-9B55DD93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建议先验证个人Pro订阅，再启动硬件与B端投入。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B4784-9BA8-4422-BB85-C0806EC6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54233-1B00-4D20-9835-47B454ED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1499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E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A6EED-1E1B-428B-BACE-F4B2CB9E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11 / GO TO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B4E56-F10D-4C5D-8119-6216D3FA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首个切口选择考试与资料型自学人群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3CA0E-EBE3-46B9-AB1A-E5F04110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28750"/>
            <a:ext cx="10001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7C204-F7FA-4886-9418-F108FF05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获客入口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A02CF-C5F4-4A4F-9880-CD862016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24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考试模板、学习博主、校园社群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B4172-1A07-4E6E-89E9-D7C1B253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9239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E17FA-AA68-484E-AA9F-97E2819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首次价值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51E8A-5737-43A2-A60E-8C91C409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一句话目标生成可执行计划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BA499-90B4-4406-B478-732B5F24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81350"/>
            <a:ext cx="8477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462A6-3381-4CE0-8EA4-CBA1FE3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76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资料绑定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A8F13-A8D0-45EE-B55C-BCB2FC75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上传自己的教材、课件与试卷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5B02A-926E-434E-B715-EAD25D2E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57650"/>
            <a:ext cx="7715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3FEA5-64C5-4668-BCB3-09B0AF59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52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习惯形成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2C740-7BD9-4AB1-AD2E-CBCC7F05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52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今日任务、测验、复习与Alice反馈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5E3F1-1CC3-4FAB-997D-3B10E559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33950"/>
            <a:ext cx="6953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4C1E34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02BF0-2E55-4ABE-A51B-7336710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29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付费转化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DFF4B-045A-417B-90FB-15743E96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292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更多资料、高级分析、语音与长期记忆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8E5D3-9EBC-4ECD-BBC5-4B34F0BC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17D6E-C3A1-49B2-889E-DE251F90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90588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17D94-1DDD-4A22-8CE9-011609CC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12 /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761AD-49E6-421F-901F-EA16FE5C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融资后的每个阶段都要交付可验证的数据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9310A-301B-431F-A992-610F0607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419350" cy="28575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8F4F7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1BD47-6FCD-42CA-A524-9E49FB35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0–3个月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0EB9B-FADA-46EB-8F0C-96F4E771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产品闭环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B0CAC-A5B5-4AE5-8411-D88ACCFA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真实资料连续学习可用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完成生产云端验收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A0D1B-FA3E-4BDE-9DAC-7FD24DAF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质量门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9550C-86C4-4858-A2DC-7D56B1D1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47850"/>
            <a:ext cx="2419350" cy="28575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E45D9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EC5C2-8FEE-4B83-BF23-01F74441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3–6个月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B82A8-5A0E-4BBE-A0EF-501F0819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留存验证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43B30-E190-4D87-8F45-9191CCE8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0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7日 / 30日留存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周学习天数与完成率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BB229-B3CD-4284-B69F-79C57D68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PMF门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6EC50-119F-4D9C-9D57-57432FF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2419350" cy="28575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8F4F7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D8B75-9822-47E9-BE08-78D27AB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6–12个月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33001-CE21-41D3-A3EB-FBB12E5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付费验证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DADD4-D451-4BB0-B3D2-343D4B8F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Pro订阅上线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转化率、ARPU与毛利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41ECE-7832-447F-AE05-F3D542A7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商业门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48370-2A40-41FE-8371-D7BFE690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419350" cy="28575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8F4F7"/>
          </a:solidFill>
          <a:ln xmlns:a="http://schemas.openxmlformats.org/drawingml/2006/main" w="9525">
            <a:solidFill>
              <a:srgbClr val="E9D6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599E7-A0A0-4D08-9F91-AA49F6F0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12–18个月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FE759-F362-449F-8B9D-2EFB234B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扩张验证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14C1D-8303-408B-A627-12D2C941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机构试点</a:t>
            </a:r>
          </a:p>
          <a:p xmlns:a="http://schemas.openxmlformats.org/drawingml/2006/main">
            <a:pPr>
              <a:def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桌宠原型与预售测试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21CBB-03A3-4BCD-ABBF-EC88E682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1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规模门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DEB14-D9FF-45E3-A180-94E40322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首个目标创建率 · 资料上传率 · 任务完成率 · 复习正确率 · 单用户AI成本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6147D-E7C1-4081-8745-E1E433AE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41888-BEDC-41C6-B9B1-DECE43F3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40251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9BEB0-3925-4A74-8CF8-997F0967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13 / 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B1566-51B3-4DAE-95BE-DE426DC3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建议天使轮融资 200–500 万元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508D3-0A7C-45BA-AC03-25EFC2EB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资金目标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070F-C907-488B-9831-C451ACF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完成产品闭环，验证留存与付费，建立一个高频垂直场景。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7CB2E-B335-4526-A1B8-2A8E2E77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40%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7DFD8-6788-42FA-B10A-2AFFD0D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52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产品与工程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73AFF-4B35-401F-9C85-46D43C45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52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rPr>
              <a:t>课程引擎、跨端稳定性、生产云端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C1D1F-A3B0-465A-B376-EC313184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9409B-D880-4CC1-B233-802902E1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8E79D6"/>
                </a:solidFill>
                <a:latin typeface="Noto Sans SC"/>
                <a:ea typeface="Noto Sans SC"/>
                <a:cs typeface="Noto Sans SC"/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7C2EE-C7E6-44CD-B903-1EB98090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385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增长与内容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7E3E1-770F-44A6-99A7-170A1389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rPr>
              <a:t>垂直场景模板、渠道和用户研究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78D63-D60F-45F3-842C-CCA25F52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74FEA-C63F-4F6A-BE5B-CC9D6451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59A72"/>
                </a:solidFill>
                <a:latin typeface="Noto Sans SC"/>
                <a:ea typeface="Noto Sans SC"/>
                <a:cs typeface="Noto Sans SC"/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97EB2-1D10-4262-AD3A-67CC1145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AI成本与安全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1B200-83D5-4712-8B1B-8886507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243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rPr>
              <a:t>模型路由、缓存、限流与隐私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472A7-54AA-4B1E-949F-85D4E04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4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C3BF9-2A5B-47CC-954C-E2FDB1E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15%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50EC6-FB66-4B4E-871E-9179483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01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硬件验证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27986-F697-441A-B0DF-A66645AB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101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FC6D1"/>
                </a:solidFill>
                <a:latin typeface="Noto Sans SC"/>
                <a:ea typeface="Noto Sans SC"/>
                <a:cs typeface="Noto Sans SC"/>
              </a:rPr>
              <a:t>桌宠原型与供应链小批量测试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2192F-A005-45A5-8AE0-BCEB3F75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5F00F-3494-443D-9729-A4AF6577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A4B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FA4B2"/>
                </a:solidFill>
                <a:latin typeface="Noto Sans SC"/>
                <a:ea typeface="Noto Sans SC"/>
                <a:cs typeface="Noto Sans SC"/>
              </a:rPr>
              <a:t>融资金额为建议区间；估值和股份比例需结合团队、内测与成本数据确定。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73303-92DB-40EC-9949-ECA222D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EF577-9E74-40DE-A4BA-07BE6FFD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B7AEBB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21941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9B65B-0F6B-4E15-8B61-7F854A4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14 /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C64C0-013E-4529-A5E3-1FEA2F1F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现有技术资产明确，团队履历与商业数据需要补齐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A5A8C-4C24-4856-8A59-5B37D119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0A87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50A878"/>
                </a:solidFill>
                <a:latin typeface="Noto Sans SC"/>
                <a:ea typeface="Noto Sans SC"/>
                <a:cs typeface="Noto Sans SC"/>
              </a:rPr>
              <a:t>已具备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072F8-4F58-4DC8-9707-DF4061AE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完整的跨端产品原型与品牌角色 Alice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目标、课程理解、掌握度与连续计划代码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关系记忆、语音、桌宠与云端迁移设计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236C2-3B53-4681-8108-B8135F16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E45D96"/>
                </a:solidFill>
                <a:latin typeface="Noto Sans SC"/>
                <a:ea typeface="Noto Sans SC"/>
                <a:cs typeface="Noto Sans SC"/>
              </a:rPr>
              <a:t>路演前补齐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4B997-DF49-436D-9DD2-03FCBF0A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创始人姓名、履历、分工和全职状态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内测用户、留存、完成率与AI成本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18个月预算、估值依据与本轮股权比例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4D4052"/>
                </a:solidFill>
                <a:latin typeface="Noto Sans SC"/>
                <a:ea typeface="Noto Sans SC"/>
                <a:cs typeface="Noto Sans SC"/>
              </a:rPr>
              <a:t>知识产权、数据合规与硬件供应链资源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96259-010C-482C-94CF-50F1E4C4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5727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9525">
            <a:solidFill>
              <a:srgbClr val="F7B8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5B58B-32F4-4954-9E11-54E0A534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1003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61C2A"/>
                </a:solidFill>
                <a:latin typeface="Noto Sans SC"/>
                <a:ea typeface="Noto Sans SC"/>
                <a:cs typeface="Noto Sans SC"/>
              </a:rPr>
              <a:t>投资人最终投的是团队执行能力；这一页必须由创始人真实信息替换。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2A118-FCAD-44CB-AB1D-3D35805D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QUESTMIND · INVESTOR DECK ·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0A160-2635-40AD-B9EB-5A768B9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B6A80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22436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936129aa5488c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E31C9-78F0-4319-A565-C8C6E5D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E16">
              <a:alpha val="6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6CD01-E216-4539-A94D-606EF868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7B8D1"/>
                </a:solidFill>
                <a:latin typeface="Noto Sans SC"/>
                <a:ea typeface="Noto Sans SC"/>
                <a:cs typeface="Noto Sans SC"/>
              </a:rPr>
              <a:t>QUESTMIND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B6183-0B46-4FF5-964F-694ABA69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47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让每个目标，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都有一条能走完的路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F3937-6B5B-44AE-B653-9B884138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8D9E3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E8D9E3"/>
                </a:solidFill>
                <a:latin typeface="Noto Sans SC"/>
                <a:ea typeface="Noto Sans SC"/>
                <a:cs typeface="Noto Sans SC"/>
              </a:rPr>
              <a:t>AI陪伴式目标学习平台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2D889-7125-496B-80E6-E3D770CE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8BDC9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8BDC9"/>
                </a:solidFill>
                <a:latin typeface="Noto Sans SC"/>
                <a:ea typeface="Noto Sans SC"/>
                <a:cs typeface="Noto Sans SC"/>
              </a:rPr>
              <a:t>联系人：[待补充]    邮箱：[待补充]    微信：[待补充]</a:t>
            </a:r>
          </a:p>
        </p:txBody>
      </p:sp>
    </p:spTree>
    <p:extLst>
      <p:ext uri="{BB962C8B-B14F-4D97-AF65-F5344CB8AC3E}">
        <p14:creationId xmlns:p14="http://schemas.microsoft.com/office/powerpoint/2010/main" val="1166085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2026-09-08T11:07:47.4880000Z</dcterms:created>
  <dcterms:modified xsi:type="dcterms:W3CDTF">2026-09-08T11:07:47.4880000Z</dcterms:modified>
</coreProperties>
</file>